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89240" cy="1371960"/>
          </a:xfrm>
          <a:custGeom>
            <a:avLst/>
            <a:gdLst/>
            <a:ahLst/>
            <a:rect l="0" t="0" r="r" b="b"/>
            <a:pathLst>
              <a:path w="33859" h="3811">
                <a:moveTo>
                  <a:pt x="0" y="0"/>
                </a:moveTo>
                <a:lnTo>
                  <a:pt x="33859" y="0"/>
                </a:lnTo>
                <a:lnTo>
                  <a:pt x="33859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502920" y="0"/>
            <a:ext cx="7223760" cy="1371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800" b="1" u="none" spc="99" strike="noStrike">
                <a:solidFill>
                  <a:srgbClr val="FFFFFF"/>
                </a:solidFill>
                <a:effectLst/>
                <a:uFillTx/>
                <a:latin typeface="Calibri-Bold"/>
                <a:ea typeface="Calibri-Bold"/>
              </a:rPr>
              <a:t>ITM SKILLS UNIVERSITY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8961120" y="411480"/>
            <a:ext cx="2743560" cy="503280"/>
          </a:xfrm>
          <a:custGeom>
            <a:avLst/>
            <a:gdLst/>
            <a:ahLst/>
            <a:rect l="0" t="0" r="r" b="b"/>
            <a:pathLst>
              <a:path w="7621" h="1398">
                <a:moveTo>
                  <a:pt x="0" y="0"/>
                </a:moveTo>
                <a:lnTo>
                  <a:pt x="7621" y="0"/>
                </a:lnTo>
                <a:lnTo>
                  <a:pt x="7621" y="1398"/>
                </a:lnTo>
                <a:lnTo>
                  <a:pt x="0" y="13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5000"/>
            </a:srgbClr>
          </a:solidFill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9006840" y="411480"/>
            <a:ext cx="2651760" cy="502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Department of Computer Science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5720" y="1737360"/>
            <a:ext cx="1209744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400" b="0" u="none" spc="201" strike="noStrike">
                <a:solidFill>
                  <a:srgbClr val="6A7180"/>
                </a:solidFill>
                <a:effectLst/>
                <a:uFillTx/>
                <a:latin typeface="Calibri"/>
                <a:ea typeface="Calibri"/>
              </a:rPr>
              <a:t>B.Tech CSE – Semester II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4114800" y="2148840"/>
            <a:ext cx="3959640" cy="27720"/>
          </a:xfrm>
          <a:custGeom>
            <a:avLst/>
            <a:gdLst/>
            <a:ahLst/>
            <a:rect l="0" t="0" r="r" b="b"/>
            <a:pathLst>
              <a:path w="10999" h="77">
                <a:moveTo>
                  <a:pt x="0" y="0"/>
                </a:moveTo>
                <a:lnTo>
                  <a:pt x="10999" y="0"/>
                </a:lnTo>
                <a:lnTo>
                  <a:pt x="10999" y="77"/>
                </a:lnTo>
                <a:lnTo>
                  <a:pt x="0" y="7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txBody>
          <a:bodyPr lIns="96120" tIns="-23400" rIns="96120" bIns="-23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02920" y="2331720"/>
            <a:ext cx="11183040" cy="175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ct val="120000"/>
              </a:lnSpc>
            </a:pPr>
            <a:r>
              <a:rPr lang="en-US" sz="4400" b="1" u="none" strike="noStrike">
                <a:solidFill>
                  <a:srgbClr val="1E4D78"/>
                </a:solidFill>
                <a:effectLst/>
                <a:uFillTx/>
                <a:latin typeface="Calibri-Bold"/>
                <a:ea typeface="Calibri-Bold"/>
              </a:rPr>
              <a:t>Case Study</a:t>
            </a:r>
            <a:r>
              <a:rPr lang="en-US" sz="4400" b="1" u="none" strike="noStrike">
                <a:solidFill>
                  <a:srgbClr val="1E4D78"/>
                </a:solidFill>
                <a:effectLst/>
                <a:uFillTx/>
                <a:latin typeface="Calibri-Bold"/>
                <a:ea typeface="Calibri-Bold"/>
              </a:rPr>
              <a:t>: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rtl="1">
              <a:lnSpc>
                <a:spcPct val="120000"/>
              </a:lnSpc>
            </a:pPr>
            <a:r>
              <a:rPr lang="en-US" sz="4400" b="1" u="none" strike="noStrike">
                <a:solidFill>
                  <a:srgbClr val="1E4D78"/>
                </a:solidFill>
                <a:effectLst/>
                <a:uFillTx/>
                <a:latin typeface="Calibri-Bold"/>
                <a:ea typeface="Calibri-Bold"/>
              </a:rPr>
              <a:t>Online Examination System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02920" y="3931920"/>
            <a:ext cx="11183040" cy="54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32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Using C</a:t>
            </a:r>
            <a:r>
              <a:rPr lang="en-US" sz="32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++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3200400" y="4663440"/>
            <a:ext cx="5788440" cy="1371960"/>
          </a:xfrm>
          <a:custGeom>
            <a:avLst/>
            <a:gdLst/>
            <a:ahLst/>
            <a:rect l="0" t="0" r="r" b="b"/>
            <a:pathLst>
              <a:path w="16079" h="3811">
                <a:moveTo>
                  <a:pt x="0" y="0"/>
                </a:moveTo>
                <a:lnTo>
                  <a:pt x="16079" y="0"/>
                </a:lnTo>
                <a:lnTo>
                  <a:pt x="16079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EFF6FF"/>
          </a:solidFill>
          <a:ln w="12600">
            <a:solidFill>
              <a:srgbClr val="EFF6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3200400" y="4663440"/>
            <a:ext cx="110160" cy="1371960"/>
          </a:xfrm>
          <a:custGeom>
            <a:avLst/>
            <a:gdLst/>
            <a:ahLst/>
            <a:rect l="0" t="0" r="r" b="b"/>
            <a:pathLst>
              <a:path w="306" h="3811">
                <a:moveTo>
                  <a:pt x="0" y="0"/>
                </a:moveTo>
                <a:lnTo>
                  <a:pt x="306" y="0"/>
                </a:lnTo>
                <a:lnTo>
                  <a:pt x="306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429000" y="4754880"/>
            <a:ext cx="5486400" cy="32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100" b="1" u="none" spc="99" strike="noStrike">
                <a:solidFill>
                  <a:srgbClr val="4A5462"/>
                </a:solidFill>
                <a:effectLst/>
                <a:uFillTx/>
                <a:latin typeface="Calibri-Bold"/>
                <a:ea typeface="Calibri-Bold"/>
              </a:rPr>
              <a:t>PRESENTED BY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429000" y="5074920"/>
            <a:ext cx="5486400" cy="82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3000" b="1" u="none" strike="noStrike">
                <a:solidFill>
                  <a:srgbClr val="1E4D78"/>
                </a:solidFill>
                <a:effectLst/>
                <a:uFillTx/>
                <a:latin typeface="Calibri-Bold"/>
                <a:ea typeface="Calibri-Bold"/>
              </a:rPr>
              <a:t>[</a:t>
            </a:r>
            <a:r>
              <a:rPr lang="en-US" sz="3000" b="1" u="none" strike="noStrike">
                <a:solidFill>
                  <a:srgbClr val="1E4D78"/>
                </a:solidFill>
                <a:effectLst/>
                <a:uFillTx/>
                <a:latin typeface="Calibri-Bold"/>
                <a:ea typeface="Calibri-Bold"/>
              </a:rPr>
              <a:t>Ayush Mishra</a:t>
            </a:r>
            <a:r>
              <a:rPr lang="en-US" sz="3000" b="1" u="none" strike="noStrike">
                <a:solidFill>
                  <a:srgbClr val="1E4D78"/>
                </a:solidFill>
                <a:effectLst/>
                <a:uFillTx/>
                <a:latin typeface="Calibri-Bold"/>
                <a:ea typeface="Calibri-Bold"/>
              </a:rPr>
              <a:t>]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0" y="6675120"/>
            <a:ext cx="12189240" cy="110160"/>
          </a:xfrm>
          <a:custGeom>
            <a:avLst/>
            <a:gdLst/>
            <a:ahLst/>
            <a:rect l="0" t="0" r="r" b="b"/>
            <a:pathLst>
              <a:path w="33859" h="306">
                <a:moveTo>
                  <a:pt x="0" y="0"/>
                </a:moveTo>
                <a:lnTo>
                  <a:pt x="33859" y="0"/>
                </a:lnTo>
                <a:lnTo>
                  <a:pt x="33859" y="306"/>
                </a:lnTo>
                <a:lnTo>
                  <a:pt x="0" y="306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0" y="6784920"/>
            <a:ext cx="12189240" cy="73440"/>
          </a:xfrm>
          <a:custGeom>
            <a:avLst/>
            <a:gdLst/>
            <a:ahLst/>
            <a:rect l="0" t="0" r="r" b="b"/>
            <a:pathLst>
              <a:path w="33859" h="204">
                <a:moveTo>
                  <a:pt x="0" y="0"/>
                </a:moveTo>
                <a:lnTo>
                  <a:pt x="33859" y="0"/>
                </a:lnTo>
                <a:lnTo>
                  <a:pt x="33859" y="204"/>
                </a:lnTo>
                <a:lnTo>
                  <a:pt x="0" y="204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12600">
            <a:solidFill>
              <a:srgbClr val="93C5FD"/>
            </a:solidFill>
            <a:round/>
          </a:ln>
        </p:spPr>
        <p:txBody>
          <a:bodyPr lIns="96120" tIns="22320" rIns="96120" bIns="22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0" y="0"/>
            <a:ext cx="12189240" cy="1189080"/>
          </a:xfrm>
          <a:custGeom>
            <a:avLst/>
            <a:gdLst/>
            <a:ahLst/>
            <a:rect l="0" t="0" r="r" b="b"/>
            <a:pathLst>
              <a:path w="33859" h="3303">
                <a:moveTo>
                  <a:pt x="0" y="0"/>
                </a:moveTo>
                <a:lnTo>
                  <a:pt x="33859" y="0"/>
                </a:lnTo>
                <a:lnTo>
                  <a:pt x="33859" y="3303"/>
                </a:lnTo>
                <a:lnTo>
                  <a:pt x="0" y="3303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94360" y="0"/>
            <a:ext cx="9966960" cy="1188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pc="51" strike="noStrike">
                <a:solidFill>
                  <a:srgbClr val="FFFFFF"/>
                </a:solidFill>
                <a:effectLst/>
                <a:uFillTx/>
                <a:latin typeface="Calibri-Bold"/>
                <a:ea typeface="Calibri-Bold"/>
              </a:rPr>
              <a:t>Introduction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0" y="1188720"/>
            <a:ext cx="12189240" cy="91800"/>
          </a:xfrm>
          <a:custGeom>
            <a:avLst/>
            <a:gdLst/>
            <a:ahLst/>
            <a:rect l="0" t="0" r="r" b="b"/>
            <a:pathLst>
              <a:path w="33859" h="255">
                <a:moveTo>
                  <a:pt x="0" y="0"/>
                </a:moveTo>
                <a:lnTo>
                  <a:pt x="33859" y="0"/>
                </a:lnTo>
                <a:lnTo>
                  <a:pt x="33859" y="255"/>
                </a:lnTo>
                <a:lnTo>
                  <a:pt x="0" y="255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12600">
            <a:solidFill>
              <a:srgbClr val="93C5FD"/>
            </a:solidFill>
            <a:round/>
          </a:ln>
        </p:spPr>
        <p:txBody>
          <a:bodyPr lIns="96120" tIns="40680" rIns="96120" bIns="406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0" y="6446520"/>
            <a:ext cx="12189240" cy="411840"/>
          </a:xfrm>
          <a:custGeom>
            <a:avLst/>
            <a:gdLst/>
            <a:ahLst/>
            <a:rect l="0" t="0" r="r" b="b"/>
            <a:pathLst>
              <a:path w="33859" h="1144">
                <a:moveTo>
                  <a:pt x="0" y="0"/>
                </a:moveTo>
                <a:lnTo>
                  <a:pt x="33859" y="0"/>
                </a:lnTo>
                <a:lnTo>
                  <a:pt x="33859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12600">
            <a:solidFill>
              <a:srgbClr val="E5E7EB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0" y="6446520"/>
            <a:ext cx="1218888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594360" y="6473880"/>
            <a:ext cx="4480560" cy="34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6A7180"/>
                </a:solidFill>
                <a:effectLst/>
                <a:uFillTx/>
                <a:latin typeface="Calibri"/>
                <a:ea typeface="Calibri"/>
              </a:rPr>
              <a:t>ITM Skills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8275320" y="6473880"/>
            <a:ext cx="3566160" cy="34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 rtl="1"/>
            <a:r>
              <a:rPr lang="en-US" sz="110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B.Tech CSE Sem II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02920" y="147204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576000" y="153900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914400" y="1417320"/>
            <a:ext cx="10789920" cy="401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What is an Online Examination System</a:t>
            </a:r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914400" y="1764720"/>
            <a:ext cx="10789920" cy="54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A software system that conducts exams digitally without pen and paper, allowing for automated processes and data handling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502920" y="256932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576000" y="264276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914400" y="2514600"/>
            <a:ext cx="10789920" cy="401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Purpose of using C</a:t>
            </a:r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++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914400" y="2862000"/>
            <a:ext cx="10789920" cy="54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To apply core Semester II programming concepts like arrays, loops, and pointers in a practical, real-world scenario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502920" y="366660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76000" y="374004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914400" y="361188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Importance &amp; Benefits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914400" y="3959280"/>
            <a:ext cx="10789920" cy="54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Significantly saves time, reduces human error in grading, and provides instant results to students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02920" y="476388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76000" y="481896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914400" y="470916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Technical Suitability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914400" y="5056560"/>
            <a:ext cx="10789920" cy="54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C++ is ideal for building console-based, logic-driven applications that require efficient memory management and structured execution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0" y="0"/>
            <a:ext cx="12189240" cy="1189080"/>
          </a:xfrm>
          <a:custGeom>
            <a:avLst/>
            <a:gdLst/>
            <a:ahLst/>
            <a:rect l="0" t="0" r="r" b="b"/>
            <a:pathLst>
              <a:path w="33859" h="3303">
                <a:moveTo>
                  <a:pt x="0" y="0"/>
                </a:moveTo>
                <a:lnTo>
                  <a:pt x="33859" y="0"/>
                </a:lnTo>
                <a:lnTo>
                  <a:pt x="33859" y="3303"/>
                </a:lnTo>
                <a:lnTo>
                  <a:pt x="0" y="3303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94360" y="0"/>
            <a:ext cx="9966960" cy="1188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pc="51" strike="noStrike">
                <a:solidFill>
                  <a:srgbClr val="FFFFFF"/>
                </a:solidFill>
                <a:effectLst/>
                <a:uFillTx/>
                <a:latin typeface="Calibri-Bold"/>
                <a:ea typeface="Calibri-Bold"/>
              </a:rPr>
              <a:t>Problem Statement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0" y="1188720"/>
            <a:ext cx="12189240" cy="91800"/>
          </a:xfrm>
          <a:custGeom>
            <a:avLst/>
            <a:gdLst/>
            <a:ahLst/>
            <a:rect l="0" t="0" r="r" b="b"/>
            <a:pathLst>
              <a:path w="33859" h="255">
                <a:moveTo>
                  <a:pt x="0" y="0"/>
                </a:moveTo>
                <a:lnTo>
                  <a:pt x="33859" y="0"/>
                </a:lnTo>
                <a:lnTo>
                  <a:pt x="33859" y="255"/>
                </a:lnTo>
                <a:lnTo>
                  <a:pt x="0" y="255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12600">
            <a:solidFill>
              <a:srgbClr val="93C5FD"/>
            </a:solidFill>
            <a:round/>
          </a:ln>
        </p:spPr>
        <p:txBody>
          <a:bodyPr lIns="96120" tIns="40680" rIns="96120" bIns="406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0" y="6446520"/>
            <a:ext cx="12189240" cy="411840"/>
          </a:xfrm>
          <a:custGeom>
            <a:avLst/>
            <a:gdLst/>
            <a:ahLst/>
            <a:rect l="0" t="0" r="r" b="b"/>
            <a:pathLst>
              <a:path w="33859" h="1144">
                <a:moveTo>
                  <a:pt x="0" y="0"/>
                </a:moveTo>
                <a:lnTo>
                  <a:pt x="33859" y="0"/>
                </a:lnTo>
                <a:lnTo>
                  <a:pt x="33859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12600">
            <a:solidFill>
              <a:srgbClr val="E5E7EB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0" y="6446520"/>
            <a:ext cx="1218888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594360" y="6473880"/>
            <a:ext cx="4480560" cy="34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6A7180"/>
                </a:solidFill>
                <a:effectLst/>
                <a:uFillTx/>
                <a:latin typeface="Calibri"/>
                <a:ea typeface="Calibri"/>
              </a:rPr>
              <a:t>ITM Skills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275320" y="6473880"/>
            <a:ext cx="3566160" cy="34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 rtl="1"/>
            <a:r>
              <a:rPr lang="en-US" sz="110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B.Tech CSE Sem II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02920" y="144468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576000" y="149976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914400" y="138996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Time-Consuming Process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914400" y="1737360"/>
            <a:ext cx="107899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Manual exams require significant time for paper distribution, collection, and manual checking of answer sheets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502920" y="235908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576000" y="241416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914400" y="230436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Risk of Human Error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914400" y="2651760"/>
            <a:ext cx="107899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Human errors in evaluation and calculation of total marks are common during manual checking processes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502920" y="327348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576000" y="332856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914400" y="321876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Delayed Results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914400" y="3566160"/>
            <a:ext cx="107899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Students often have to wait days or weeks for results to be declared after the examination is conducted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502920" y="418788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76000" y="424296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914400" y="413316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Need for Automation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914400" y="4480560"/>
            <a:ext cx="107899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There is a critical need for a system that automatically evaluates answers and instantly displays results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502920" y="510228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576000" y="515736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914400" y="504756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Proposed Solution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914400" y="5394960"/>
            <a:ext cx="107899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A C++ based console application for online MCQ exams that handles logic, scoring, and result generation efficiently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0" y="0"/>
            <a:ext cx="12189240" cy="1189080"/>
          </a:xfrm>
          <a:custGeom>
            <a:avLst/>
            <a:gdLst/>
            <a:ahLst/>
            <a:rect l="0" t="0" r="r" b="b"/>
            <a:pathLst>
              <a:path w="33859" h="3303">
                <a:moveTo>
                  <a:pt x="0" y="0"/>
                </a:moveTo>
                <a:lnTo>
                  <a:pt x="33859" y="0"/>
                </a:lnTo>
                <a:lnTo>
                  <a:pt x="33859" y="3303"/>
                </a:lnTo>
                <a:lnTo>
                  <a:pt x="0" y="3303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94360" y="0"/>
            <a:ext cx="9966960" cy="1188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pc="51" strike="noStrike">
                <a:solidFill>
                  <a:srgbClr val="FFFFFF"/>
                </a:solidFill>
                <a:effectLst/>
                <a:uFillTx/>
                <a:latin typeface="Calibri-Bold"/>
                <a:ea typeface="Calibri-Bold"/>
              </a:rPr>
              <a:t>Objectives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0" y="1188720"/>
            <a:ext cx="12189240" cy="91800"/>
          </a:xfrm>
          <a:custGeom>
            <a:avLst/>
            <a:gdLst/>
            <a:ahLst/>
            <a:rect l="0" t="0" r="r" b="b"/>
            <a:pathLst>
              <a:path w="33859" h="255">
                <a:moveTo>
                  <a:pt x="0" y="0"/>
                </a:moveTo>
                <a:lnTo>
                  <a:pt x="33859" y="0"/>
                </a:lnTo>
                <a:lnTo>
                  <a:pt x="33859" y="255"/>
                </a:lnTo>
                <a:lnTo>
                  <a:pt x="0" y="255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12600">
            <a:solidFill>
              <a:srgbClr val="93C5FD"/>
            </a:solidFill>
            <a:round/>
          </a:ln>
        </p:spPr>
        <p:txBody>
          <a:bodyPr lIns="96120" tIns="40680" rIns="96120" bIns="406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0" y="6446520"/>
            <a:ext cx="12189240" cy="411840"/>
          </a:xfrm>
          <a:custGeom>
            <a:avLst/>
            <a:gdLst/>
            <a:ahLst/>
            <a:rect l="0" t="0" r="r" b="b"/>
            <a:pathLst>
              <a:path w="33859" h="1144">
                <a:moveTo>
                  <a:pt x="0" y="0"/>
                </a:moveTo>
                <a:lnTo>
                  <a:pt x="33859" y="0"/>
                </a:lnTo>
                <a:lnTo>
                  <a:pt x="33859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12600">
            <a:solidFill>
              <a:srgbClr val="E5E7EB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0" y="6446520"/>
            <a:ext cx="1218888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94360" y="6473880"/>
            <a:ext cx="4480560" cy="34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6A7180"/>
                </a:solidFill>
                <a:effectLst/>
                <a:uFillTx/>
                <a:latin typeface="Calibri"/>
                <a:ea typeface="Calibri"/>
              </a:rPr>
              <a:t>ITM Skills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275320" y="6473880"/>
            <a:ext cx="3566160" cy="34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 rtl="1"/>
            <a:r>
              <a:rPr lang="en-US" sz="110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B.Tech CSE Sem II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502920" y="151776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576000" y="157284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914400" y="146304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Data Storage with Arrays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914400" y="1810440"/>
            <a:ext cx="10789920" cy="54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Utilize arrays to efficiently store questions, multiple-choice options, and correct answers in structured memory blocks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02920" y="261504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76000" y="267012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914400" y="256032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Sequential Execution with Loops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914400" y="2907720"/>
            <a:ext cx="10789920" cy="54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Apply iteration loops (for/while) to display questions one by one, ensuring a smooth and sequential exam flow for the user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502920" y="371232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576000" y="376740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914400" y="365760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Logic Implementation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914400" y="4005000"/>
            <a:ext cx="10789920" cy="54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Use conditional statements (if-else) to validate user input and compare selected answers against stored correct values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502920" y="480960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576000" y="486468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914400" y="475488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Automated Scoring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914400" y="5102280"/>
            <a:ext cx="10789920" cy="54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Automatically calculate the total score in real-time and determine the final result (Pass/Fail) based on predefined criteria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0" y="0"/>
            <a:ext cx="12189240" cy="1189080"/>
          </a:xfrm>
          <a:custGeom>
            <a:avLst/>
            <a:gdLst/>
            <a:ahLst/>
            <a:rect l="0" t="0" r="r" b="b"/>
            <a:pathLst>
              <a:path w="33859" h="3303">
                <a:moveTo>
                  <a:pt x="0" y="0"/>
                </a:moveTo>
                <a:lnTo>
                  <a:pt x="33859" y="0"/>
                </a:lnTo>
                <a:lnTo>
                  <a:pt x="33859" y="3303"/>
                </a:lnTo>
                <a:lnTo>
                  <a:pt x="0" y="3303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94360" y="0"/>
            <a:ext cx="9966960" cy="1188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pc="51" strike="noStrike">
                <a:solidFill>
                  <a:srgbClr val="FFFFFF"/>
                </a:solidFill>
                <a:effectLst/>
                <a:uFillTx/>
                <a:latin typeface="Calibri-Bold"/>
                <a:ea typeface="Calibri-Bold"/>
              </a:rPr>
              <a:t>System Features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0" y="1188720"/>
            <a:ext cx="12189240" cy="91800"/>
          </a:xfrm>
          <a:custGeom>
            <a:avLst/>
            <a:gdLst/>
            <a:ahLst/>
            <a:rect l="0" t="0" r="r" b="b"/>
            <a:pathLst>
              <a:path w="33859" h="255">
                <a:moveTo>
                  <a:pt x="0" y="0"/>
                </a:moveTo>
                <a:lnTo>
                  <a:pt x="33859" y="0"/>
                </a:lnTo>
                <a:lnTo>
                  <a:pt x="33859" y="255"/>
                </a:lnTo>
                <a:lnTo>
                  <a:pt x="0" y="255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12600">
            <a:solidFill>
              <a:srgbClr val="93C5FD"/>
            </a:solidFill>
            <a:round/>
          </a:ln>
        </p:spPr>
        <p:txBody>
          <a:bodyPr lIns="96120" tIns="40680" rIns="96120" bIns="406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0" y="6446520"/>
            <a:ext cx="12189240" cy="411840"/>
          </a:xfrm>
          <a:custGeom>
            <a:avLst/>
            <a:gdLst/>
            <a:ahLst/>
            <a:rect l="0" t="0" r="r" b="b"/>
            <a:pathLst>
              <a:path w="33859" h="1144">
                <a:moveTo>
                  <a:pt x="0" y="0"/>
                </a:moveTo>
                <a:lnTo>
                  <a:pt x="33859" y="0"/>
                </a:lnTo>
                <a:lnTo>
                  <a:pt x="33859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12600">
            <a:solidFill>
              <a:srgbClr val="E5E7EB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0" y="6446520"/>
            <a:ext cx="1218888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94360" y="6473880"/>
            <a:ext cx="4480560" cy="34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6A7180"/>
                </a:solidFill>
                <a:effectLst/>
                <a:uFillTx/>
                <a:latin typeface="Calibri"/>
                <a:ea typeface="Calibri"/>
              </a:rPr>
              <a:t>ITM Skills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8275320" y="6473880"/>
            <a:ext cx="3566160" cy="34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 rtl="1"/>
            <a:r>
              <a:rPr lang="en-US" sz="110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B.Tech CSE Sem II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457200" y="151776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530280" y="157284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841320" y="1463040"/>
            <a:ext cx="53035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Console-Based System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841320" y="1810440"/>
            <a:ext cx="5303520" cy="1051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Operates within CLI without complex GUI libraries, ensuring compatibility and speed</a:t>
            </a:r>
            <a:r>
              <a:rPr lang="en-US" sz="13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457200" y="307224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530280" y="312732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841320" y="3017520"/>
            <a:ext cx="53035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Input Validation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841320" y="3364920"/>
            <a:ext cx="5303520" cy="1051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Includes robust error checking to handle invalid user inputs and prompts for correct entry</a:t>
            </a:r>
            <a:r>
              <a:rPr lang="en-US" sz="13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457200" y="462672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530280" y="468180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841320" y="4572000"/>
            <a:ext cx="53035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Result Display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841320" y="4919400"/>
            <a:ext cx="5303520" cy="1051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Displays a comprehensive summary showing total score obtained and Pass/Fail status</a:t>
            </a:r>
            <a:r>
              <a:rPr lang="en-US" sz="13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400800" y="151776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473880" y="157284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6784920" y="1463040"/>
            <a:ext cx="53035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MCQ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784920" y="1810440"/>
            <a:ext cx="5303520" cy="1051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Supports Multiple Choice Questions where students select answers from options A, B, C, or D</a:t>
            </a:r>
            <a:r>
              <a:rPr lang="en-US" sz="13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6400800" y="307224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473880" y="312732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6784920" y="3017520"/>
            <a:ext cx="53035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Automatic Scoring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784920" y="3364920"/>
            <a:ext cx="5303520" cy="1051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Instantly evaluates each answer against the stored correct key and updates score in real-time</a:t>
            </a:r>
            <a:r>
              <a:rPr lang="en-US" sz="13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6400800" y="462672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6473880" y="468180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784920" y="4572000"/>
            <a:ext cx="53035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User-Friendly Menu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6784920" y="4919400"/>
            <a:ext cx="5303520" cy="1051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Features simple navigation: Start Exam, View Instructions, or Exit the application easily</a:t>
            </a:r>
            <a:r>
              <a:rPr lang="en-US" sz="13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>
            <a:off x="0" y="0"/>
            <a:ext cx="12189240" cy="1189080"/>
          </a:xfrm>
          <a:custGeom>
            <a:avLst/>
            <a:gdLst/>
            <a:ahLst/>
            <a:rect l="0" t="0" r="r" b="b"/>
            <a:pathLst>
              <a:path w="33859" h="3303">
                <a:moveTo>
                  <a:pt x="0" y="0"/>
                </a:moveTo>
                <a:lnTo>
                  <a:pt x="33859" y="0"/>
                </a:lnTo>
                <a:lnTo>
                  <a:pt x="33859" y="3303"/>
                </a:lnTo>
                <a:lnTo>
                  <a:pt x="0" y="3303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594360" y="0"/>
            <a:ext cx="9966960" cy="1188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pc="51" strike="noStrike">
                <a:solidFill>
                  <a:srgbClr val="FFFFFF"/>
                </a:solidFill>
                <a:effectLst/>
                <a:uFillTx/>
                <a:latin typeface="Calibri-Bold"/>
                <a:ea typeface="Calibri-Bold"/>
              </a:rPr>
              <a:t>Program Flow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0" y="1188720"/>
            <a:ext cx="12189240" cy="91800"/>
          </a:xfrm>
          <a:custGeom>
            <a:avLst/>
            <a:gdLst/>
            <a:ahLst/>
            <a:rect l="0" t="0" r="r" b="b"/>
            <a:pathLst>
              <a:path w="33859" h="255">
                <a:moveTo>
                  <a:pt x="0" y="0"/>
                </a:moveTo>
                <a:lnTo>
                  <a:pt x="33859" y="0"/>
                </a:lnTo>
                <a:lnTo>
                  <a:pt x="33859" y="255"/>
                </a:lnTo>
                <a:lnTo>
                  <a:pt x="0" y="255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12600">
            <a:solidFill>
              <a:srgbClr val="93C5FD"/>
            </a:solidFill>
            <a:round/>
          </a:ln>
        </p:spPr>
        <p:txBody>
          <a:bodyPr lIns="96120" tIns="40680" rIns="96120" bIns="406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0" y="6446520"/>
            <a:ext cx="12189240" cy="411840"/>
          </a:xfrm>
          <a:custGeom>
            <a:avLst/>
            <a:gdLst/>
            <a:ahLst/>
            <a:rect l="0" t="0" r="r" b="b"/>
            <a:pathLst>
              <a:path w="33859" h="1144">
                <a:moveTo>
                  <a:pt x="0" y="0"/>
                </a:moveTo>
                <a:lnTo>
                  <a:pt x="33859" y="0"/>
                </a:lnTo>
                <a:lnTo>
                  <a:pt x="33859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12600">
            <a:solidFill>
              <a:srgbClr val="E5E7EB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0" y="6446520"/>
            <a:ext cx="1218888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594360" y="6473880"/>
            <a:ext cx="4480560" cy="34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6A7180"/>
                </a:solidFill>
                <a:effectLst/>
                <a:uFillTx/>
                <a:latin typeface="Calibri"/>
                <a:ea typeface="Calibri"/>
              </a:rPr>
              <a:t>ITM Skills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8275320" y="6473880"/>
            <a:ext cx="3566160" cy="34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 rtl="1"/>
            <a:r>
              <a:rPr lang="en-US" sz="110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B.Tech CSE Sem II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182880" y="2423160"/>
            <a:ext cx="1371960" cy="640440"/>
          </a:xfrm>
          <a:custGeom>
            <a:avLst/>
            <a:gdLst/>
            <a:ahLst/>
            <a:rect l="0" t="0" r="r" b="b"/>
            <a:pathLst>
              <a:path w="3811" h="1779">
                <a:moveTo>
                  <a:pt x="0" y="0"/>
                </a:moveTo>
                <a:lnTo>
                  <a:pt x="3811" y="0"/>
                </a:lnTo>
                <a:lnTo>
                  <a:pt x="3811" y="1779"/>
                </a:lnTo>
                <a:lnTo>
                  <a:pt x="0" y="1779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28600" y="2423160"/>
            <a:ext cx="128016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-Bold"/>
                <a:ea typeface="Calibri-Bold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1554480" y="2743200"/>
            <a:ext cx="338040" cy="0"/>
          </a:xfrm>
          <a:prstGeom prst="line">
            <a:avLst/>
          </a:prstGeom>
          <a:ln w="25560">
            <a:solidFill>
              <a:srgbClr val="1E4D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1801440" y="2651760"/>
            <a:ext cx="91800" cy="183240"/>
          </a:xfrm>
          <a:custGeom>
            <a:avLst/>
            <a:gdLst/>
            <a:ahLst/>
            <a:rect l="0" t="0" r="r" b="b"/>
            <a:pathLst>
              <a:path w="255" h="509">
                <a:moveTo>
                  <a:pt x="0" y="0"/>
                </a:moveTo>
                <a:lnTo>
                  <a:pt x="255" y="0"/>
                </a:lnTo>
                <a:lnTo>
                  <a:pt x="255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37160" y="1463040"/>
            <a:ext cx="1463040" cy="100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100" b="1" u="none" strike="noStrike">
                <a:solidFill>
                  <a:srgbClr val="1E4D78"/>
                </a:solidFill>
                <a:effectLst/>
                <a:uFillTx/>
                <a:latin typeface="Calibri-Bold"/>
                <a:ea typeface="Calibri-Bold"/>
              </a:rPr>
              <a:t>Display Main Menu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37160" y="3657600"/>
            <a:ext cx="146304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0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Show options: Start Exam, View Result, Exit</a:t>
            </a:r>
            <a:r>
              <a:rPr lang="en-US" sz="10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1892880" y="2423160"/>
            <a:ext cx="1371960" cy="640440"/>
          </a:xfrm>
          <a:custGeom>
            <a:avLst/>
            <a:gdLst/>
            <a:ahLst/>
            <a:rect l="0" t="0" r="r" b="b"/>
            <a:pathLst>
              <a:path w="3811" h="1779">
                <a:moveTo>
                  <a:pt x="0" y="0"/>
                </a:moveTo>
                <a:lnTo>
                  <a:pt x="3811" y="0"/>
                </a:lnTo>
                <a:lnTo>
                  <a:pt x="3811" y="1779"/>
                </a:lnTo>
                <a:lnTo>
                  <a:pt x="0" y="1779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938600" y="2423160"/>
            <a:ext cx="128016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-Bold"/>
                <a:ea typeface="Calibri-Bold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3264480" y="2743200"/>
            <a:ext cx="338040" cy="0"/>
          </a:xfrm>
          <a:prstGeom prst="line">
            <a:avLst/>
          </a:prstGeom>
          <a:ln w="25560">
            <a:solidFill>
              <a:srgbClr val="1E4D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3511440" y="2651760"/>
            <a:ext cx="91800" cy="183240"/>
          </a:xfrm>
          <a:custGeom>
            <a:avLst/>
            <a:gdLst/>
            <a:ahLst/>
            <a:rect l="0" t="0" r="r" b="b"/>
            <a:pathLst>
              <a:path w="255" h="509">
                <a:moveTo>
                  <a:pt x="0" y="0"/>
                </a:moveTo>
                <a:lnTo>
                  <a:pt x="255" y="0"/>
                </a:lnTo>
                <a:lnTo>
                  <a:pt x="255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847160" y="1463040"/>
            <a:ext cx="1463040" cy="100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100" b="1" u="none" strike="noStrike">
                <a:solidFill>
                  <a:srgbClr val="1E4D78"/>
                </a:solidFill>
                <a:effectLst/>
                <a:uFillTx/>
                <a:latin typeface="Calibri-Bold"/>
                <a:ea typeface="Calibri-Bold"/>
              </a:rPr>
              <a:t>Student Login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847160" y="3657600"/>
            <a:ext cx="146304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0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Prompt student to enter their name/ID</a:t>
            </a:r>
            <a:r>
              <a:rPr lang="en-US" sz="10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3602880" y="2423160"/>
            <a:ext cx="1371960" cy="640440"/>
          </a:xfrm>
          <a:custGeom>
            <a:avLst/>
            <a:gdLst/>
            <a:ahLst/>
            <a:rect l="0" t="0" r="r" b="b"/>
            <a:pathLst>
              <a:path w="3811" h="1779">
                <a:moveTo>
                  <a:pt x="0" y="0"/>
                </a:moveTo>
                <a:lnTo>
                  <a:pt x="3811" y="0"/>
                </a:lnTo>
                <a:lnTo>
                  <a:pt x="3811" y="1779"/>
                </a:lnTo>
                <a:lnTo>
                  <a:pt x="0" y="1779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3648600" y="2423160"/>
            <a:ext cx="128016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-Bold"/>
                <a:ea typeface="Calibri-Bold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4974480" y="2743200"/>
            <a:ext cx="338040" cy="0"/>
          </a:xfrm>
          <a:prstGeom prst="line">
            <a:avLst/>
          </a:prstGeom>
          <a:ln w="25560">
            <a:solidFill>
              <a:srgbClr val="1E4D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5221080" y="2651760"/>
            <a:ext cx="91800" cy="183240"/>
          </a:xfrm>
          <a:custGeom>
            <a:avLst/>
            <a:gdLst/>
            <a:ahLst/>
            <a:rect l="0" t="0" r="r" b="b"/>
            <a:pathLst>
              <a:path w="255" h="509">
                <a:moveTo>
                  <a:pt x="0" y="0"/>
                </a:moveTo>
                <a:lnTo>
                  <a:pt x="255" y="0"/>
                </a:lnTo>
                <a:lnTo>
                  <a:pt x="255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3557160" y="1463040"/>
            <a:ext cx="1463040" cy="100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100" b="1" u="none" strike="noStrike">
                <a:solidFill>
                  <a:srgbClr val="1E4D78"/>
                </a:solidFill>
                <a:effectLst/>
                <a:uFillTx/>
                <a:latin typeface="Calibri-Bold"/>
                <a:ea typeface="Calibri-Bold"/>
              </a:rPr>
              <a:t>Display Questions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557160" y="3657600"/>
            <a:ext cx="146304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0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Loop through arrays to show Question &amp; Options</a:t>
            </a:r>
            <a:r>
              <a:rPr lang="en-US" sz="10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5312520" y="2423160"/>
            <a:ext cx="1371960" cy="640440"/>
          </a:xfrm>
          <a:custGeom>
            <a:avLst/>
            <a:gdLst/>
            <a:ahLst/>
            <a:rect l="0" t="0" r="r" b="b"/>
            <a:pathLst>
              <a:path w="3811" h="1779">
                <a:moveTo>
                  <a:pt x="0" y="0"/>
                </a:moveTo>
                <a:lnTo>
                  <a:pt x="3811" y="0"/>
                </a:lnTo>
                <a:lnTo>
                  <a:pt x="3811" y="1779"/>
                </a:lnTo>
                <a:lnTo>
                  <a:pt x="0" y="1779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5358240" y="2423160"/>
            <a:ext cx="128016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-Bold"/>
                <a:ea typeface="Calibri-Bold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684120" y="2743200"/>
            <a:ext cx="338040" cy="0"/>
          </a:xfrm>
          <a:prstGeom prst="line">
            <a:avLst/>
          </a:prstGeom>
          <a:ln w="25560">
            <a:solidFill>
              <a:srgbClr val="1E4D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931080" y="2651760"/>
            <a:ext cx="91800" cy="183240"/>
          </a:xfrm>
          <a:custGeom>
            <a:avLst/>
            <a:gdLst/>
            <a:ahLst/>
            <a:rect l="0" t="0" r="r" b="b"/>
            <a:pathLst>
              <a:path w="255" h="509">
                <a:moveTo>
                  <a:pt x="0" y="0"/>
                </a:moveTo>
                <a:lnTo>
                  <a:pt x="255" y="0"/>
                </a:lnTo>
                <a:lnTo>
                  <a:pt x="255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5266800" y="1463040"/>
            <a:ext cx="1463040" cy="100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100" b="1" u="none" strike="noStrike">
                <a:solidFill>
                  <a:srgbClr val="1E4D78"/>
                </a:solidFill>
                <a:effectLst/>
                <a:uFillTx/>
                <a:latin typeface="Calibri-Bold"/>
                <a:ea typeface="Calibri-Bold"/>
              </a:rPr>
              <a:t>Input Answer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5266800" y="3657600"/>
            <a:ext cx="146304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0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Student enters choice (A, B, C, or D)</a:t>
            </a:r>
            <a:r>
              <a:rPr lang="en-US" sz="10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7022520" y="2423160"/>
            <a:ext cx="1371960" cy="640440"/>
          </a:xfrm>
          <a:custGeom>
            <a:avLst/>
            <a:gdLst/>
            <a:ahLst/>
            <a:rect l="0" t="0" r="r" b="b"/>
            <a:pathLst>
              <a:path w="3811" h="1779">
                <a:moveTo>
                  <a:pt x="0" y="0"/>
                </a:moveTo>
                <a:lnTo>
                  <a:pt x="3811" y="0"/>
                </a:lnTo>
                <a:lnTo>
                  <a:pt x="3811" y="1779"/>
                </a:lnTo>
                <a:lnTo>
                  <a:pt x="0" y="1779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7068240" y="2423160"/>
            <a:ext cx="128016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-Bold"/>
                <a:ea typeface="Calibri-Bold"/>
              </a:rPr>
              <a:t>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8394120" y="2743200"/>
            <a:ext cx="338040" cy="0"/>
          </a:xfrm>
          <a:prstGeom prst="line">
            <a:avLst/>
          </a:prstGeom>
          <a:ln w="25560">
            <a:solidFill>
              <a:srgbClr val="1E4D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8641080" y="2651760"/>
            <a:ext cx="91800" cy="183240"/>
          </a:xfrm>
          <a:custGeom>
            <a:avLst/>
            <a:gdLst/>
            <a:ahLst/>
            <a:rect l="0" t="0" r="r" b="b"/>
            <a:pathLst>
              <a:path w="255" h="509">
                <a:moveTo>
                  <a:pt x="0" y="0"/>
                </a:moveTo>
                <a:lnTo>
                  <a:pt x="255" y="0"/>
                </a:lnTo>
                <a:lnTo>
                  <a:pt x="255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976800" y="1463040"/>
            <a:ext cx="1463040" cy="100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100" b="1" u="none" strike="noStrike">
                <a:solidFill>
                  <a:srgbClr val="1E4D78"/>
                </a:solidFill>
                <a:effectLst/>
                <a:uFillTx/>
                <a:latin typeface="Calibri-Bold"/>
                <a:ea typeface="Calibri-Bold"/>
              </a:rPr>
              <a:t>Validate &amp; Check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976800" y="3657600"/>
            <a:ext cx="146304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0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Validate format. Compare with correct answer</a:t>
            </a:r>
            <a:r>
              <a:rPr lang="en-US" sz="10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8732520" y="2423160"/>
            <a:ext cx="1371960" cy="640440"/>
          </a:xfrm>
          <a:custGeom>
            <a:avLst/>
            <a:gdLst/>
            <a:ahLst/>
            <a:rect l="0" t="0" r="r" b="b"/>
            <a:pathLst>
              <a:path w="3811" h="1779">
                <a:moveTo>
                  <a:pt x="0" y="0"/>
                </a:moveTo>
                <a:lnTo>
                  <a:pt x="3811" y="0"/>
                </a:lnTo>
                <a:lnTo>
                  <a:pt x="3811" y="1779"/>
                </a:lnTo>
                <a:lnTo>
                  <a:pt x="0" y="1779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8778240" y="2423160"/>
            <a:ext cx="128016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-Bold"/>
                <a:ea typeface="Calibri-Bold"/>
              </a:rPr>
              <a:t>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10104120" y="2743200"/>
            <a:ext cx="338040" cy="0"/>
          </a:xfrm>
          <a:prstGeom prst="line">
            <a:avLst/>
          </a:prstGeom>
          <a:ln w="25560">
            <a:solidFill>
              <a:srgbClr val="1E4D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10351080" y="2651760"/>
            <a:ext cx="91800" cy="183240"/>
          </a:xfrm>
          <a:custGeom>
            <a:avLst/>
            <a:gdLst/>
            <a:ahLst/>
            <a:rect l="0" t="0" r="r" b="b"/>
            <a:pathLst>
              <a:path w="255" h="509">
                <a:moveTo>
                  <a:pt x="0" y="0"/>
                </a:moveTo>
                <a:lnTo>
                  <a:pt x="255" y="0"/>
                </a:lnTo>
                <a:lnTo>
                  <a:pt x="255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8686800" y="1463040"/>
            <a:ext cx="1463040" cy="100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100" b="1" u="none" strike="noStrike">
                <a:solidFill>
                  <a:srgbClr val="1E4D78"/>
                </a:solidFill>
                <a:effectLst/>
                <a:uFillTx/>
                <a:latin typeface="Calibri-Bold"/>
                <a:ea typeface="Calibri-Bold"/>
              </a:rPr>
              <a:t>Accumulate Score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8686800" y="3657600"/>
            <a:ext cx="146304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0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Increment score counter if answer is correct</a:t>
            </a:r>
            <a:r>
              <a:rPr lang="en-US" sz="10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10442520" y="2423160"/>
            <a:ext cx="1371960" cy="640440"/>
          </a:xfrm>
          <a:custGeom>
            <a:avLst/>
            <a:gdLst/>
            <a:ahLst/>
            <a:rect l="0" t="0" r="r" b="b"/>
            <a:pathLst>
              <a:path w="3811" h="1779">
                <a:moveTo>
                  <a:pt x="0" y="0"/>
                </a:moveTo>
                <a:lnTo>
                  <a:pt x="3811" y="0"/>
                </a:lnTo>
                <a:lnTo>
                  <a:pt x="3811" y="1779"/>
                </a:lnTo>
                <a:lnTo>
                  <a:pt x="0" y="1779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10488240" y="2423160"/>
            <a:ext cx="128016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-Bold"/>
                <a:ea typeface="Calibri-Bold"/>
              </a:rPr>
              <a:t>7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0396800" y="1463040"/>
            <a:ext cx="1463040" cy="100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100" b="1" u="none" strike="noStrike">
                <a:solidFill>
                  <a:srgbClr val="1E4D78"/>
                </a:solidFill>
                <a:effectLst/>
                <a:uFillTx/>
                <a:latin typeface="Calibri-Bold"/>
                <a:ea typeface="Calibri-Bold"/>
              </a:rPr>
              <a:t>Show Final Result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0396800" y="3657600"/>
            <a:ext cx="146304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0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Display Total Score and Pass/Fail status</a:t>
            </a:r>
            <a:r>
              <a:rPr lang="en-US" sz="10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182880" y="2560320"/>
            <a:ext cx="11887200" cy="0"/>
          </a:xfrm>
          <a:prstGeom prst="line">
            <a:avLst/>
          </a:prstGeom>
          <a:ln w="12600">
            <a:solidFill>
              <a:srgbClr val="E5E7EB"/>
            </a:solidFill>
            <a:custDash>
              <a:ds d="400000" sp="300000"/>
              <a:ds d="4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>
            <a:off x="0" y="0"/>
            <a:ext cx="12189240" cy="1189080"/>
          </a:xfrm>
          <a:custGeom>
            <a:avLst/>
            <a:gdLst/>
            <a:ahLst/>
            <a:rect l="0" t="0" r="r" b="b"/>
            <a:pathLst>
              <a:path w="33859" h="3303">
                <a:moveTo>
                  <a:pt x="0" y="0"/>
                </a:moveTo>
                <a:lnTo>
                  <a:pt x="33859" y="0"/>
                </a:lnTo>
                <a:lnTo>
                  <a:pt x="33859" y="3303"/>
                </a:lnTo>
                <a:lnTo>
                  <a:pt x="0" y="3303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594360" y="0"/>
            <a:ext cx="9966960" cy="1188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pc="51" strike="noStrike">
                <a:solidFill>
                  <a:srgbClr val="FFFFFF"/>
                </a:solidFill>
                <a:effectLst/>
                <a:uFillTx/>
                <a:latin typeface="Calibri-Bold"/>
                <a:ea typeface="Calibri-Bold"/>
              </a:rPr>
              <a:t>Code Structure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0" y="1188720"/>
            <a:ext cx="12189240" cy="91800"/>
          </a:xfrm>
          <a:custGeom>
            <a:avLst/>
            <a:gdLst/>
            <a:ahLst/>
            <a:rect l="0" t="0" r="r" b="b"/>
            <a:pathLst>
              <a:path w="33859" h="255">
                <a:moveTo>
                  <a:pt x="0" y="0"/>
                </a:moveTo>
                <a:lnTo>
                  <a:pt x="33859" y="0"/>
                </a:lnTo>
                <a:lnTo>
                  <a:pt x="33859" y="255"/>
                </a:lnTo>
                <a:lnTo>
                  <a:pt x="0" y="255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12600">
            <a:solidFill>
              <a:srgbClr val="93C5FD"/>
            </a:solidFill>
            <a:round/>
          </a:ln>
        </p:spPr>
        <p:txBody>
          <a:bodyPr lIns="96120" tIns="40680" rIns="96120" bIns="406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0" y="6446520"/>
            <a:ext cx="12189240" cy="411840"/>
          </a:xfrm>
          <a:custGeom>
            <a:avLst/>
            <a:gdLst/>
            <a:ahLst/>
            <a:rect l="0" t="0" r="r" b="b"/>
            <a:pathLst>
              <a:path w="33859" h="1144">
                <a:moveTo>
                  <a:pt x="0" y="0"/>
                </a:moveTo>
                <a:lnTo>
                  <a:pt x="33859" y="0"/>
                </a:lnTo>
                <a:lnTo>
                  <a:pt x="33859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12600">
            <a:solidFill>
              <a:srgbClr val="E5E7EB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0" y="6446520"/>
            <a:ext cx="1218888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594360" y="6473880"/>
            <a:ext cx="4480560" cy="34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6A7180"/>
                </a:solidFill>
                <a:effectLst/>
                <a:uFillTx/>
                <a:latin typeface="Calibri"/>
                <a:ea typeface="Calibri"/>
              </a:rPr>
              <a:t>ITM Skills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8275320" y="6473880"/>
            <a:ext cx="3566160" cy="34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 rtl="1"/>
            <a:r>
              <a:rPr lang="en-US" sz="110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B.Tech CSE Sem II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365760" y="1417320"/>
            <a:ext cx="5303880" cy="4846680"/>
          </a:xfrm>
          <a:custGeom>
            <a:avLst/>
            <a:gdLst/>
            <a:ahLst/>
            <a:rect l="0" t="0" r="r" b="b"/>
            <a:pathLst>
              <a:path w="14733" h="13463">
                <a:moveTo>
                  <a:pt x="0" y="0"/>
                </a:moveTo>
                <a:lnTo>
                  <a:pt x="14733" y="0"/>
                </a:lnTo>
                <a:lnTo>
                  <a:pt x="14733" y="13463"/>
                </a:lnTo>
                <a:lnTo>
                  <a:pt x="0" y="13463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38160">
            <a:solidFill>
              <a:srgbClr val="1E4D78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5303520" y="1554480"/>
            <a:ext cx="164880" cy="164880"/>
          </a:xfrm>
          <a:custGeom>
            <a:avLst/>
            <a:gdLst/>
            <a:ahLst/>
            <a:rect l="0" t="0" r="r" b="b"/>
            <a:pathLst>
              <a:path w="458" h="458">
                <a:moveTo>
                  <a:pt x="391" y="66"/>
                </a:moveTo>
                <a:cubicBezTo>
                  <a:pt x="480" y="156"/>
                  <a:pt x="480" y="301"/>
                  <a:pt x="391" y="391"/>
                </a:cubicBezTo>
                <a:cubicBezTo>
                  <a:pt x="301" y="480"/>
                  <a:pt x="156" y="480"/>
                  <a:pt x="66" y="391"/>
                </a:cubicBezTo>
                <a:cubicBezTo>
                  <a:pt x="-22" y="301"/>
                  <a:pt x="-22" y="156"/>
                  <a:pt x="66" y="66"/>
                </a:cubicBezTo>
                <a:cubicBezTo>
                  <a:pt x="156" y="-22"/>
                  <a:pt x="301" y="-22"/>
                  <a:pt x="391" y="66"/>
                </a:cubicBezTo>
                <a:close/>
              </a:path>
            </a:pathLst>
          </a:custGeom>
          <a:solidFill>
            <a:srgbClr val="FF5E55"/>
          </a:solidFill>
          <a:ln w="12600">
            <a:solidFill>
              <a:srgbClr val="FF5E55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5074920" y="1554480"/>
            <a:ext cx="164880" cy="164880"/>
          </a:xfrm>
          <a:custGeom>
            <a:avLst/>
            <a:gdLst/>
            <a:ahLst/>
            <a:rect l="0" t="0" r="r" b="b"/>
            <a:pathLst>
              <a:path w="458" h="458">
                <a:moveTo>
                  <a:pt x="391" y="66"/>
                </a:moveTo>
                <a:cubicBezTo>
                  <a:pt x="480" y="156"/>
                  <a:pt x="480" y="301"/>
                  <a:pt x="391" y="391"/>
                </a:cubicBezTo>
                <a:cubicBezTo>
                  <a:pt x="301" y="480"/>
                  <a:pt x="156" y="480"/>
                  <a:pt x="66" y="391"/>
                </a:cubicBezTo>
                <a:cubicBezTo>
                  <a:pt x="-22" y="301"/>
                  <a:pt x="-22" y="156"/>
                  <a:pt x="66" y="66"/>
                </a:cubicBezTo>
                <a:cubicBezTo>
                  <a:pt x="156" y="-22"/>
                  <a:pt x="301" y="-22"/>
                  <a:pt x="391" y="66"/>
                </a:cubicBezTo>
                <a:close/>
              </a:path>
            </a:pathLst>
          </a:custGeom>
          <a:solidFill>
            <a:srgbClr val="FFBD2D"/>
          </a:solidFill>
          <a:ln w="12600">
            <a:solidFill>
              <a:srgbClr val="FFBD2D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4846320" y="1554480"/>
            <a:ext cx="164880" cy="164880"/>
          </a:xfrm>
          <a:custGeom>
            <a:avLst/>
            <a:gdLst/>
            <a:ahLst/>
            <a:rect l="0" t="0" r="r" b="b"/>
            <a:pathLst>
              <a:path w="458" h="458">
                <a:moveTo>
                  <a:pt x="391" y="66"/>
                </a:moveTo>
                <a:cubicBezTo>
                  <a:pt x="480" y="156"/>
                  <a:pt x="480" y="301"/>
                  <a:pt x="391" y="391"/>
                </a:cubicBezTo>
                <a:cubicBezTo>
                  <a:pt x="301" y="480"/>
                  <a:pt x="156" y="480"/>
                  <a:pt x="66" y="391"/>
                </a:cubicBezTo>
                <a:cubicBezTo>
                  <a:pt x="-22" y="301"/>
                  <a:pt x="-22" y="156"/>
                  <a:pt x="66" y="66"/>
                </a:cubicBezTo>
                <a:cubicBezTo>
                  <a:pt x="156" y="-22"/>
                  <a:pt x="301" y="-22"/>
                  <a:pt x="391" y="66"/>
                </a:cubicBezTo>
                <a:close/>
              </a:path>
            </a:pathLst>
          </a:custGeom>
          <a:solidFill>
            <a:srgbClr val="26C93E"/>
          </a:solidFill>
          <a:ln w="12600">
            <a:solidFill>
              <a:srgbClr val="26C93E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411480" y="1417320"/>
            <a:ext cx="521208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300" b="1" u="none" strike="noStrike">
                <a:solidFill>
                  <a:srgbClr val="9CA3AF"/>
                </a:solidFill>
                <a:effectLst/>
                <a:uFillTx/>
                <a:latin typeface="Calibri-Bold"/>
                <a:ea typeface="Calibri-Bold"/>
              </a:rPr>
              <a:t>Core Functions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457200" y="1874520"/>
            <a:ext cx="5120640" cy="4206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int main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() 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 // 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Entry point &amp; Menu Loop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 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while (running)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 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   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displayMenu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();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 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 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return 0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void startExam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() 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 // 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Displays questions loop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 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for (int i = 0; i &lt; 10; i++)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 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   // 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Show Qs &amp; Get Input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 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void clearInput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() 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 // 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Handles invalid buffer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 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cin.clear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();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 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cin.ignore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();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492240" y="1417320"/>
            <a:ext cx="5303880" cy="4846680"/>
          </a:xfrm>
          <a:custGeom>
            <a:avLst/>
            <a:gdLst/>
            <a:ahLst/>
            <a:rect l="0" t="0" r="r" b="b"/>
            <a:pathLst>
              <a:path w="14733" h="13463">
                <a:moveTo>
                  <a:pt x="0" y="0"/>
                </a:moveTo>
                <a:lnTo>
                  <a:pt x="14733" y="0"/>
                </a:lnTo>
                <a:lnTo>
                  <a:pt x="14733" y="13463"/>
                </a:lnTo>
                <a:lnTo>
                  <a:pt x="0" y="13463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38160">
            <a:solidFill>
              <a:srgbClr val="1E4D78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11430000" y="1554480"/>
            <a:ext cx="164880" cy="164880"/>
          </a:xfrm>
          <a:custGeom>
            <a:avLst/>
            <a:gdLst/>
            <a:ahLst/>
            <a:rect l="0" t="0" r="r" b="b"/>
            <a:pathLst>
              <a:path w="458" h="458">
                <a:moveTo>
                  <a:pt x="391" y="66"/>
                </a:moveTo>
                <a:cubicBezTo>
                  <a:pt x="480" y="156"/>
                  <a:pt x="480" y="301"/>
                  <a:pt x="391" y="391"/>
                </a:cubicBezTo>
                <a:cubicBezTo>
                  <a:pt x="301" y="480"/>
                  <a:pt x="156" y="480"/>
                  <a:pt x="66" y="391"/>
                </a:cubicBezTo>
                <a:cubicBezTo>
                  <a:pt x="-22" y="301"/>
                  <a:pt x="-22" y="156"/>
                  <a:pt x="66" y="66"/>
                </a:cubicBezTo>
                <a:cubicBezTo>
                  <a:pt x="156" y="-22"/>
                  <a:pt x="301" y="-22"/>
                  <a:pt x="391" y="66"/>
                </a:cubicBezTo>
                <a:close/>
              </a:path>
            </a:pathLst>
          </a:custGeom>
          <a:solidFill>
            <a:srgbClr val="FF5E55"/>
          </a:solidFill>
          <a:ln w="12600">
            <a:solidFill>
              <a:srgbClr val="FF5E55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1201400" y="1554480"/>
            <a:ext cx="164880" cy="164880"/>
          </a:xfrm>
          <a:custGeom>
            <a:avLst/>
            <a:gdLst/>
            <a:ahLst/>
            <a:rect l="0" t="0" r="r" b="b"/>
            <a:pathLst>
              <a:path w="458" h="458">
                <a:moveTo>
                  <a:pt x="391" y="66"/>
                </a:moveTo>
                <a:cubicBezTo>
                  <a:pt x="480" y="156"/>
                  <a:pt x="480" y="301"/>
                  <a:pt x="391" y="391"/>
                </a:cubicBezTo>
                <a:cubicBezTo>
                  <a:pt x="301" y="480"/>
                  <a:pt x="156" y="480"/>
                  <a:pt x="66" y="391"/>
                </a:cubicBezTo>
                <a:cubicBezTo>
                  <a:pt x="-22" y="301"/>
                  <a:pt x="-22" y="156"/>
                  <a:pt x="66" y="66"/>
                </a:cubicBezTo>
                <a:cubicBezTo>
                  <a:pt x="156" y="-22"/>
                  <a:pt x="301" y="-22"/>
                  <a:pt x="391" y="66"/>
                </a:cubicBezTo>
                <a:close/>
              </a:path>
            </a:pathLst>
          </a:custGeom>
          <a:solidFill>
            <a:srgbClr val="FFBD2D"/>
          </a:solidFill>
          <a:ln w="12600">
            <a:solidFill>
              <a:srgbClr val="FFBD2D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10972800" y="1554480"/>
            <a:ext cx="164880" cy="164880"/>
          </a:xfrm>
          <a:custGeom>
            <a:avLst/>
            <a:gdLst/>
            <a:ahLst/>
            <a:rect l="0" t="0" r="r" b="b"/>
            <a:pathLst>
              <a:path w="458" h="458">
                <a:moveTo>
                  <a:pt x="391" y="66"/>
                </a:moveTo>
                <a:cubicBezTo>
                  <a:pt x="480" y="156"/>
                  <a:pt x="480" y="301"/>
                  <a:pt x="391" y="391"/>
                </a:cubicBezTo>
                <a:cubicBezTo>
                  <a:pt x="301" y="480"/>
                  <a:pt x="156" y="480"/>
                  <a:pt x="66" y="391"/>
                </a:cubicBezTo>
                <a:cubicBezTo>
                  <a:pt x="-22" y="301"/>
                  <a:pt x="-22" y="156"/>
                  <a:pt x="66" y="66"/>
                </a:cubicBezTo>
                <a:cubicBezTo>
                  <a:pt x="156" y="-22"/>
                  <a:pt x="301" y="-22"/>
                  <a:pt x="391" y="66"/>
                </a:cubicBezTo>
                <a:close/>
              </a:path>
            </a:pathLst>
          </a:custGeom>
          <a:solidFill>
            <a:srgbClr val="26C93E"/>
          </a:solidFill>
          <a:ln w="12600">
            <a:solidFill>
              <a:srgbClr val="26C93E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6537960" y="1417320"/>
            <a:ext cx="521208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1300" b="1" u="none" strike="noStrike">
                <a:solidFill>
                  <a:srgbClr val="9CA3AF"/>
                </a:solidFill>
                <a:effectLst/>
                <a:uFillTx/>
                <a:latin typeface="Calibri-Bold"/>
                <a:ea typeface="Calibri-Bold"/>
              </a:rPr>
              <a:t>Data Structures &amp; Variables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6583680" y="1874520"/>
            <a:ext cx="5120640" cy="4206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// 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Arrays for Question Bank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string questions[10]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string optionsA[10]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string optionsB[10]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string optionsC[10]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string optionsD[10]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// 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Answer Key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char correctAns[10]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 = 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 '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A', 'C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' ...};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// 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Global/Local Variables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int score = 0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int totalQuestions = 10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string studentName</a:t>
            </a: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urierNewPSMT"/>
                <a:ea typeface="CourierNewPSMT"/>
              </a:rPr>
              <a:t>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>
            <a:off x="0" y="0"/>
            <a:ext cx="12189240" cy="1189080"/>
          </a:xfrm>
          <a:custGeom>
            <a:avLst/>
            <a:gdLst/>
            <a:ahLst/>
            <a:rect l="0" t="0" r="r" b="b"/>
            <a:pathLst>
              <a:path w="33859" h="3303">
                <a:moveTo>
                  <a:pt x="0" y="0"/>
                </a:moveTo>
                <a:lnTo>
                  <a:pt x="33859" y="0"/>
                </a:lnTo>
                <a:lnTo>
                  <a:pt x="33859" y="3303"/>
                </a:lnTo>
                <a:lnTo>
                  <a:pt x="0" y="3303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594360" y="0"/>
            <a:ext cx="9966960" cy="1188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pc="51" strike="noStrike">
                <a:solidFill>
                  <a:srgbClr val="FFFFFF"/>
                </a:solidFill>
                <a:effectLst/>
                <a:uFillTx/>
                <a:latin typeface="Calibri-Bold"/>
                <a:ea typeface="Calibri-Bold"/>
              </a:rPr>
              <a:t>Conclusion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0" y="1188720"/>
            <a:ext cx="12189240" cy="91800"/>
          </a:xfrm>
          <a:custGeom>
            <a:avLst/>
            <a:gdLst/>
            <a:ahLst/>
            <a:rect l="0" t="0" r="r" b="b"/>
            <a:pathLst>
              <a:path w="33859" h="255">
                <a:moveTo>
                  <a:pt x="0" y="0"/>
                </a:moveTo>
                <a:lnTo>
                  <a:pt x="33859" y="0"/>
                </a:lnTo>
                <a:lnTo>
                  <a:pt x="33859" y="255"/>
                </a:lnTo>
                <a:lnTo>
                  <a:pt x="0" y="255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12600">
            <a:solidFill>
              <a:srgbClr val="93C5FD"/>
            </a:solidFill>
            <a:round/>
          </a:ln>
        </p:spPr>
        <p:txBody>
          <a:bodyPr lIns="96120" tIns="40680" rIns="96120" bIns="406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0" y="6446520"/>
            <a:ext cx="12189240" cy="411840"/>
          </a:xfrm>
          <a:custGeom>
            <a:avLst/>
            <a:gdLst/>
            <a:ahLst/>
            <a:rect l="0" t="0" r="r" b="b"/>
            <a:pathLst>
              <a:path w="33859" h="1144">
                <a:moveTo>
                  <a:pt x="0" y="0"/>
                </a:moveTo>
                <a:lnTo>
                  <a:pt x="33859" y="0"/>
                </a:lnTo>
                <a:lnTo>
                  <a:pt x="33859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12600">
            <a:solidFill>
              <a:srgbClr val="E5E7EB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0" y="6446520"/>
            <a:ext cx="12188880" cy="0"/>
          </a:xfrm>
          <a:prstGeom prst="line">
            <a:avLst/>
          </a:prstGeom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594360" y="6473880"/>
            <a:ext cx="4480560" cy="34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6A7180"/>
                </a:solidFill>
                <a:effectLst/>
                <a:uFillTx/>
                <a:latin typeface="Calibri"/>
                <a:ea typeface="Calibri"/>
              </a:rPr>
              <a:t>ITM Skills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8275320" y="6473880"/>
            <a:ext cx="3566160" cy="34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 rtl="1"/>
            <a:r>
              <a:rPr lang="en-US" sz="110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B.Tech CSE Sem II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502920" y="151776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576000" y="157284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914400" y="146304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Core Programming Concepts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914400" y="1810440"/>
            <a:ext cx="10789920" cy="54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Successfully demonstrates the practical application of C++ arrays, loops, conditional statements, and structured logic building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502920" y="261504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576000" y="267012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914400" y="256032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Process Automation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914400" y="2907720"/>
            <a:ext cx="10789920" cy="54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Automates the entire examination workflow from displaying questions to instantly calculating scores and declaring results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502920" y="371232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576000" y="376740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914400" y="365760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Academic Relevance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914400" y="4005000"/>
            <a:ext cx="10789920" cy="54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Provides a tangible, real-world application for B.Tech Semester II concepts, bridging the gap between theory and practice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502920" y="4809600"/>
            <a:ext cx="255960" cy="255960"/>
          </a:xfrm>
          <a:custGeom>
            <a:avLst/>
            <a:gdLst/>
            <a:ahLst/>
            <a:rect l="0" t="0" r="r" b="b"/>
            <a:pathLst>
              <a:path w="711" h="711">
                <a:moveTo>
                  <a:pt x="608" y="104"/>
                </a:moveTo>
                <a:cubicBezTo>
                  <a:pt x="746" y="243"/>
                  <a:pt x="746" y="469"/>
                  <a:pt x="608" y="608"/>
                </a:cubicBezTo>
                <a:cubicBezTo>
                  <a:pt x="469" y="746"/>
                  <a:pt x="243" y="746"/>
                  <a:pt x="104" y="608"/>
                </a:cubicBezTo>
                <a:cubicBezTo>
                  <a:pt x="-34" y="469"/>
                  <a:pt x="-34" y="243"/>
                  <a:pt x="104" y="104"/>
                </a:cubicBezTo>
                <a:cubicBezTo>
                  <a:pt x="243" y="-34"/>
                  <a:pt x="469" y="-34"/>
                  <a:pt x="608" y="104"/>
                </a:cubicBezTo>
                <a:close/>
              </a:path>
            </a:pathLst>
          </a:custGeom>
          <a:solidFill>
            <a:srgbClr val="EFF6FF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576000" y="4864680"/>
            <a:ext cx="110160" cy="110160"/>
          </a:xfrm>
          <a:custGeom>
            <a:avLst/>
            <a:gdLst/>
            <a:ahLst/>
            <a:rect l="0" t="0" r="r" b="b"/>
            <a:pathLst>
              <a:path w="306" h="306">
                <a:moveTo>
                  <a:pt x="262" y="44"/>
                </a:moveTo>
                <a:cubicBezTo>
                  <a:pt x="321" y="105"/>
                  <a:pt x="321" y="201"/>
                  <a:pt x="262" y="262"/>
                </a:cubicBezTo>
                <a:cubicBezTo>
                  <a:pt x="201" y="321"/>
                  <a:pt x="105" y="321"/>
                  <a:pt x="44" y="262"/>
                </a:cubicBezTo>
                <a:cubicBezTo>
                  <a:pt x="-14" y="201"/>
                  <a:pt x="-14" y="105"/>
                  <a:pt x="44" y="44"/>
                </a:cubicBezTo>
                <a:cubicBezTo>
                  <a:pt x="105" y="-14"/>
                  <a:pt x="201" y="-14"/>
                  <a:pt x="262" y="44"/>
                </a:cubicBez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914400" y="475488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1E2836"/>
                </a:solidFill>
                <a:effectLst/>
                <a:uFillTx/>
                <a:latin typeface="Calibri-Bold"/>
                <a:ea typeface="Calibri-Bold"/>
              </a:rPr>
              <a:t>Future Scope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914400" y="5102280"/>
            <a:ext cx="10789920" cy="54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The system can be enhanced by adding File Handling for persistent record storage or upgrading to a graphical user interface (GUI)</a:t>
            </a:r>
            <a:r>
              <a:rPr lang="en-US" sz="1400" b="0" u="none" strike="noStrike">
                <a:solidFill>
                  <a:srgbClr val="4A546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